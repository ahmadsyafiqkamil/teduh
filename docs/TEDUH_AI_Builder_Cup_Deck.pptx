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5" r:id="rId16"/>
    <p:sldId id="266" r:id="rId17"/>
    <p:sldId id="267" r:id="rId18"/>
    <p:sldId id="269" r:id="rId20"/>
  </p:sldIdLst>
  <p:sldSz cy="5143500" cx="9144000"/>
  <p:notesSz cx="6858000" cy="9144000"/>
  <p:embeddedFontLst>
    <p:embeddedFont>
      <p:font typeface="Google Sans Flex Medium"/>
      <p:regular r:id="rId21"/>
      <p:bold r:id="rId22"/>
    </p:embeddedFont>
    <p:embeddedFont>
      <p:font typeface="Google Sans Flex"/>
      <p:regular r:id="rId23"/>
      <p:bold r:id="rId24"/>
    </p:embeddedFont>
    <p:embeddedFont>
      <p:font typeface="Google Sans Flex SemiBo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+CD/UhexLicEi1fERGe+iWrRlU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hmad syafiq kamil"/>
  <p:cmAuthor clrIdx="1" id="1" initials="" lastIdx="1" name="Januarta Kusmayant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GoogleSansFlexMedium-regular.fntdata"/><Relationship Id="rId22" Type="http://schemas.openxmlformats.org/officeDocument/2006/relationships/font" Target="fonts/GoogleSansFlexMedium-bold.fntdata"/><Relationship Id="rId23" Type="http://schemas.openxmlformats.org/officeDocument/2006/relationships/font" Target="fonts/GoogleSansFlex-regular.fntdata"/><Relationship Id="rId24" Type="http://schemas.openxmlformats.org/officeDocument/2006/relationships/font" Target="fonts/GoogleSansFlex-bold.fntdata"/><Relationship Id="rId25" Type="http://schemas.openxmlformats.org/officeDocument/2006/relationships/font" Target="fonts/GoogleSansFlexSemiBold-regular.fntdata"/><Relationship Id="rId26" Type="http://schemas.openxmlformats.org/officeDocument/2006/relationships/font" Target="fonts/GoogleSansFlexSemiBold-bold.fntdata"/><Relationship Id="rId27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1F1F1F"/>
                </a:solidFill>
                <a:latin typeface="Arial"/>
              </a:rPr>
              <a:t>R² on held-out spatial blocks (1 km, 5 folds)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097A7"/>
            </a:solidFill>
          </c:spPr>
          <c:dPt>
            <c:idx val="5"/>
            <c:spPr>
              <a:solidFill>
                <a:srgbClr val="B0B7BB"/>
              </a:solidFill>
            </c:spPr>
          </c:dPt>
          <c:cat>
            <c:strRef>
              <c:f>Sheet1!$A$2:$A$7</c:f>
              <c:strCache>
                <c:ptCount val="6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  <c:pt idx="5">
                  <c:v>Linear
baseline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0.7761</c:v>
                </c:pt>
                <c:pt idx="1">
                  <c:v>0.7714</c:v>
                </c:pt>
                <c:pt idx="2">
                  <c:v>0.7232</c:v>
                </c:pt>
                <c:pt idx="3">
                  <c:v>0.7624</c:v>
                </c:pt>
                <c:pt idx="4">
                  <c:v>0.7398</c:v>
                </c:pt>
                <c:pt idx="5">
                  <c:v>0.686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E2E3"/>
            </a:solidFill>
          </a:ln>
        </c:spPr>
        <c:txPr>
          <a:bodyPr/>
          <a:lstStyle/>
          <a:p>
            <a:pPr>
              <a:defRPr sz="800">
                <a:solidFill>
                  <a:srgbClr val="5F636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5"/>
        </c:scaling>
        <c:delete val="0"/>
        <c:axPos val="l"/>
        <c:majorGridlines>
          <c:spPr>
            <a:ln>
              <a:solidFill>
                <a:srgbClr val="E6EA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F636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14T15:28:36.540">
    <p:pos x="167" y="1940"/>
    <p:text>jos iki jan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yh9NeA"/>
      </p:ext>
    </p:extLst>
  </p:cm>
  <p:cm authorId="1" idx="1" dt="2026-10-14T15:28:36.540">
    <p:pos x="167" y="1940"/>
    <p:text>Joskowi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CIyh9Ne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14T15:15:46.085">
    <p:pos x="167" y="2707"/>
    <p:text>joss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yh9NeE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9193" y="2715523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ID" sz="21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b="0" i="0" sz="2100" u="none" cap="none" strike="noStrike">
              <a:solidFill>
                <a:srgbClr val="000000"/>
              </a:solidFill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ID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name: UHI Team</a:t>
            </a:r>
            <a:endParaRPr b="0" i="0" sz="18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ID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ID" sz="1800">
                <a:latin typeface="Google Sans Flex"/>
                <a:ea typeface="Google Sans Flex"/>
                <a:cs typeface="Google Sans Flex"/>
                <a:sym typeface="Google Sans Flex"/>
              </a:rPr>
              <a:t>Ahmad Syafiq Kamil</a:t>
            </a:r>
            <a:endParaRPr b="0" i="0" sz="18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ID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/>
          </a:p>
          <a:p>
            <a:pPr indent="0" lvl="1" marL="939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ID" sz="18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“Urban heat data already exists, but it is not easily translated into location decisions, intervention choices, priorities for vulnerable residents, and accountable policy documents</a:t>
            </a:r>
            <a:r>
              <a:rPr b="0" i="1" lang="en-ID" sz="16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”</a:t>
            </a:r>
            <a:endParaRPr b="0" i="1" sz="16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" title="Frame 1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-142807" y="510893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265350" y="1227084"/>
            <a:ext cx="461849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600" u="none" cap="none" strike="noStrike">
                <a:solidFill>
                  <a:schemeClr val="accent5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FROM HEAT MAPS TO POLICY ACTION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265350" y="1643600"/>
            <a:ext cx="430665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TEDUH</a:t>
            </a: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is an AI agent that helps city governments identify the hottest and most vulnerable areas, assess potential interventions, and turn the findings into policy drafts.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976832" y="1245870"/>
            <a:ext cx="1828800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5040703" y="1352610"/>
            <a:ext cx="1600200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01 IDENTIFY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977991" y="1245870"/>
            <a:ext cx="1828800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7041862" y="1352610"/>
            <a:ext cx="1600200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02 TEST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976832" y="2748795"/>
            <a:ext cx="1828800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040703" y="2855535"/>
            <a:ext cx="1600200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03 PRIORITIZE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977991" y="2748795"/>
            <a:ext cx="1828800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7041862" y="2855535"/>
            <a:ext cx="1600200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04 DRAFT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976833" y="1719036"/>
            <a:ext cx="18287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Land Surface Temperature (LST) maps and a Heat Vulnerability Index (HVI).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977991" y="1719036"/>
            <a:ext cx="1600201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Simulate trees, cool roofs, and green roofs.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4976832" y="3330561"/>
            <a:ext cx="1828799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Build intervention packages within budget and equity constraints.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977992" y="3330561"/>
            <a:ext cx="1828799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 policy brief with traceable sources for every figure.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265350" y="3080492"/>
            <a:ext cx="430665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Planners </a:t>
            </a: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can ask questions in Indonesian/ English. </a:t>
            </a:r>
            <a:r>
              <a:rPr b="1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TEDUH </a:t>
            </a: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connects data, models, simulations, evidence, and policy briefs in one workflow</a:t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265350" y="4341396"/>
            <a:ext cx="72513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600" u="none" cap="none" strike="noStrike">
                <a:solidFill>
                  <a:schemeClr val="accent5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Residents: Roof Check feature 🡪 home-cooling recommendations</a:t>
            </a:r>
            <a:endParaRPr b="0" i="0" sz="1600" u="none" cap="none" strike="noStrike">
              <a:solidFill>
                <a:schemeClr val="accent5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265350" y="663825"/>
            <a:ext cx="8943000" cy="4253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65350" y="1703596"/>
            <a:ext cx="2508848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329221" y="1810336"/>
            <a:ext cx="2444976" cy="4678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DATA WITHOUT A PATH TO POLICY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265352" y="2285362"/>
            <a:ext cx="250884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Academic heat maps rarely inform detailed spatial plans, regional development plans, or local programs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265350" y="1227084"/>
            <a:ext cx="461849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600" u="none" cap="none" strike="noStrike">
                <a:solidFill>
                  <a:schemeClr val="accent5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The Gap TEDUH Addresses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068662" y="1703596"/>
            <a:ext cx="2508848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3132533" y="1810336"/>
            <a:ext cx="2444976" cy="4678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TOOLS ARE TOO TECHNICAL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068664" y="2285362"/>
            <a:ext cx="244497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Simulation and optimization often require specialized skills and software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871974" y="1703596"/>
            <a:ext cx="2508848" cy="1325880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5935845" y="1810336"/>
            <a:ext cx="2444976" cy="4678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UNEQUAL EXPOSURE TO RISK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5871975" y="2285362"/>
            <a:ext cx="2444977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Low-income residents, older adults, young children, and outdoor workers need to be prioritized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265350" y="3336462"/>
            <a:ext cx="461849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600" u="none" cap="none" strike="noStrike">
                <a:solidFill>
                  <a:schemeClr val="accent5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TEDUH’S Unique Value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265349" y="3726598"/>
            <a:ext cx="811547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One conversation: heat data </a:t>
            </a:r>
            <a:r>
              <a:rPr lang="en-ID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→ </a:t>
            </a: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simulation</a:t>
            </a:r>
            <a:r>
              <a:rPr lang="en-ID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→</a:t>
            </a: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budget portfolio</a:t>
            </a:r>
            <a:r>
              <a:rPr lang="en-ID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→ </a:t>
            </a: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policy brief;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Explicit equity: prioritize the highest Heat Vulnerability Index (HVI) quintile; default allocation of 60% of the budget.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Traceable figures: deterministic tools + number-provenance validation.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Citizen participation: photo-based Roof Check with safety-constrained recommendations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-29400" y="5105687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65350" y="1211709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329221" y="1318449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Heat map &amp; HVI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265351" y="1697507"/>
            <a:ext cx="250884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LST, anomalies, NDVI, building cover, population density, and vulnerable groups.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959472" y="1211709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3023343" y="1318449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Sub-district profile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2959473" y="1697507"/>
            <a:ext cx="2508846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Rankings, HVI components, and key drivers (SHAP).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653594" y="1211709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717465" y="1318449"/>
            <a:ext cx="2444976" cy="4678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AI agent chat (ID / EN)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653595" y="1700784"/>
            <a:ext cx="2508846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Ask in plain Indonesian or English; answers highlight areas on the map.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65349" y="2543945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329220" y="2650685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Scenario simulation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265350" y="3029743"/>
            <a:ext cx="250884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Trees, cool roofs, and green roofs; indicative ΔLST results with literature-based range.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959471" y="2539953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023342" y="2646693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Budget portfolio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959472" y="3025751"/>
            <a:ext cx="2508846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Intervention packages aligned with budgets and equity constraints.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53593" y="2539953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717464" y="2646693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Policy brief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653594" y="3025751"/>
            <a:ext cx="2508846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Structured draft and PDF with a source for every figure.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959471" y="3829463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023342" y="3936203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Roof check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959472" y="4315261"/>
            <a:ext cx="250884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Roof photo 🡪 Gemini Vision classification 🡪 rule-based recommendations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01" name="Google Shape;126;p4"/>
          <p:cNvSpPr/>
          <p:nvPr/>
        </p:nvSpPr>
        <p:spPr>
          <a:xfrm>
            <a:off x="261991" y="3829463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2" name="Google Shape;127;p4"/>
          <p:cNvSpPr txBox="1"/>
          <p:nvPr/>
        </p:nvSpPr>
        <p:spPr>
          <a:xfrm>
            <a:off x="325862" y="3936203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Data sources &amp; model card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03" name="Google Shape;128;p4"/>
          <p:cNvSpPr txBox="1"/>
          <p:nvPr/>
        </p:nvSpPr>
        <p:spPr>
          <a:xfrm>
            <a:off x="261992" y="4315261"/>
            <a:ext cx="250884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Attribution, cross-validation metrics and limitations on /sumber-data.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04" name="Google Shape;126;p4"/>
          <p:cNvSpPr/>
          <p:nvPr/>
        </p:nvSpPr>
        <p:spPr>
          <a:xfrm>
            <a:off x="5647806" y="3829463"/>
            <a:ext cx="2508848" cy="1098524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5" name="Google Shape;127;p4"/>
          <p:cNvSpPr txBox="1"/>
          <p:nvPr/>
        </p:nvSpPr>
        <p:spPr>
          <a:xfrm>
            <a:off x="5711677" y="3936203"/>
            <a:ext cx="2444976" cy="25237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Privacy by design</a:t>
            </a:r>
            <a:endParaRPr b="1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06" name="Google Shape;128;p4"/>
          <p:cNvSpPr txBox="1"/>
          <p:nvPr/>
        </p:nvSpPr>
        <p:spPr>
          <a:xfrm>
            <a:off x="5647807" y="4315261"/>
            <a:ext cx="2508846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50" u="none" cap="none" strike="noStrike">
                <a:solidFill>
                  <a:schemeClr val="dk2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Roof photos are never stored; EXIF is stripped; location kept at kelurahan level.</a:t>
            </a:r>
            <a:endParaRPr b="0" i="0" sz="1600" u="none" cap="none" strike="noStrike">
              <a:solidFill>
                <a:schemeClr val="dk2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 title="Group 42731997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466825" y="2239303"/>
            <a:ext cx="740162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ASK</a:t>
            </a:r>
            <a:endParaRPr b="1" i="0" sz="2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704105" y="2239302"/>
            <a:ext cx="1566033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ANALYZE</a:t>
            </a:r>
            <a:endParaRPr b="1" i="0" sz="2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3630168" y="2239302"/>
            <a:ext cx="182880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SIMULATE</a:t>
            </a:r>
            <a:endParaRPr b="1" i="0" sz="2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830407" y="2239301"/>
            <a:ext cx="1566033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OPTIMIZE</a:t>
            </a:r>
            <a:endParaRPr b="1" i="0" sz="2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893558" y="2239300"/>
            <a:ext cx="1186567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</a:t>
            </a:r>
            <a:endParaRPr b="1" i="0" sz="2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265350" y="4298544"/>
            <a:ext cx="82277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Core principle: </a:t>
            </a: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Gemini orchestrates and explains; every figure is calculated by deterministic Python tools, not freely generated by the language model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43530" y="1648910"/>
            <a:ext cx="386752" cy="494587"/>
          </a:xfrm>
          <a:prstGeom prst="roundRect">
            <a:avLst>
              <a:gd fmla="val 16667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293745" y="1648909"/>
            <a:ext cx="386752" cy="494587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355968" y="1648908"/>
            <a:ext cx="386752" cy="494587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418191" y="1650390"/>
            <a:ext cx="386752" cy="494587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131088" y="1648907"/>
            <a:ext cx="386752" cy="494587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71369" y="3011264"/>
            <a:ext cx="8115472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D" sz="12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The planner enters an area, budget, or question.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D" sz="12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The agent retrieves heat profiles, HVI, and key drivers.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D" sz="12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The model estimates LST changes for intervention options.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D" sz="12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The solver selects a package based on weighted benefits and equity constraints.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ID" sz="12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The validator checks number provenance; the brief is exported as a PDF.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7" name="Zone offline"/>
          <p:cNvSpPr/>
          <p:nvPr/>
        </p:nvSpPr>
        <p:spPr>
          <a:xfrm>
            <a:off x="274320" y="1188720"/>
            <a:ext cx="233172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Zone Google Cloud"/>
          <p:cNvSpPr/>
          <p:nvPr/>
        </p:nvSpPr>
        <p:spPr>
          <a:xfrm>
            <a:off x="2788920" y="1188720"/>
            <a:ext cx="3794760" cy="370332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Zone users"/>
          <p:cNvSpPr/>
          <p:nvPr/>
        </p:nvSpPr>
        <p:spPr>
          <a:xfrm>
            <a:off x="6766560" y="1188720"/>
            <a:ext cx="210312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Zone label 1"/>
          <p:cNvSpPr txBox="1"/>
          <p:nvPr/>
        </p:nvSpPr>
        <p:spPr>
          <a:xfrm>
            <a:off x="347472" y="1234440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850" b="1" i="0">
                <a:solidFill>
                  <a:srgbClr val="006E7A"/>
                </a:solidFill>
                <a:latin typeface="Arial"/>
              </a:rPr>
              <a:t>OFFLINE PIPELINE · run once</a:t>
            </a:r>
          </a:p>
        </p:txBody>
      </p:sp>
      <p:sp>
        <p:nvSpPr>
          <p:cNvPr id="161" name="Zone label 2"/>
          <p:cNvSpPr txBox="1"/>
          <p:nvPr/>
        </p:nvSpPr>
        <p:spPr>
          <a:xfrm>
            <a:off x="2862072" y="123444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850" b="1" i="0">
                <a:solidFill>
                  <a:srgbClr val="006E7A"/>
                </a:solidFill>
                <a:latin typeface="Arial"/>
              </a:rPr>
              <a:t>GOOGLE CLOUD · asia-southeast1</a:t>
            </a:r>
          </a:p>
        </p:txBody>
      </p:sp>
      <p:sp>
        <p:nvSpPr>
          <p:cNvPr id="162" name="Zone label 3"/>
          <p:cNvSpPr txBox="1"/>
          <p:nvPr/>
        </p:nvSpPr>
        <p:spPr>
          <a:xfrm>
            <a:off x="6839712" y="1234440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850" b="1" i="0">
                <a:solidFill>
                  <a:srgbClr val="006E7A"/>
                </a:solidFill>
                <a:latin typeface="Arial"/>
              </a:rPr>
              <a:t>USERS</a:t>
            </a:r>
          </a:p>
        </p:txBody>
      </p:sp>
      <p:sp>
        <p:nvSpPr>
          <p:cNvPr id="163" name="GEE"/>
          <p:cNvSpPr/>
          <p:nvPr/>
        </p:nvSpPr>
        <p:spPr>
          <a:xfrm>
            <a:off x="411480" y="1481328"/>
            <a:ext cx="2057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GEE text"/>
          <p:cNvSpPr txBox="1"/>
          <p:nvPr/>
        </p:nvSpPr>
        <p:spPr>
          <a:xfrm>
            <a:off x="438912" y="1481328"/>
            <a:ext cx="2002536" cy="71323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Google Earth Engine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Landsat 8/9 · Sentinel-2 · WorldCover · Open Buildings · WorldPop · Copernicus DEM</a:t>
            </a:r>
          </a:p>
        </p:txBody>
      </p:sp>
      <p:sp>
        <p:nvSpPr>
          <p:cNvPr id="165" name="Pipeline"/>
          <p:cNvSpPr/>
          <p:nvPr/>
        </p:nvSpPr>
        <p:spPr>
          <a:xfrm>
            <a:off x="411480" y="2395728"/>
            <a:ext cx="2057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Pipeline text"/>
          <p:cNvSpPr txBox="1"/>
          <p:nvPr/>
        </p:nvSpPr>
        <p:spPr>
          <a:xfrm>
            <a:off x="438912" y="2395728"/>
            <a:ext cx="2002536" cy="56692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pipeline/  ·  100 m grid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75,636 cells → 264 kelurahan + HVI</a:t>
            </a:r>
          </a:p>
        </p:txBody>
      </p:sp>
      <p:sp>
        <p:nvSpPr>
          <p:cNvPr id="167" name="Model"/>
          <p:cNvSpPr/>
          <p:nvPr/>
        </p:nvSpPr>
        <p:spPr>
          <a:xfrm>
            <a:off x="411480" y="3163824"/>
            <a:ext cx="20574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Model text"/>
          <p:cNvSpPr txBox="1"/>
          <p:nvPr/>
        </p:nvSpPr>
        <p:spPr>
          <a:xfrm>
            <a:off x="438912" y="3163824"/>
            <a:ext cx="2002536" cy="56692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model/  ·  LightGBM + SHAP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monotonic constraints, spatial block CV</a:t>
            </a:r>
          </a:p>
        </p:txBody>
      </p:sp>
      <p:sp>
        <p:nvSpPr>
          <p:cNvPr id="169" name="Artifacts"/>
          <p:cNvSpPr/>
          <p:nvPr/>
        </p:nvSpPr>
        <p:spPr>
          <a:xfrm>
            <a:off x="411480" y="3931920"/>
            <a:ext cx="2057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Artifacts text"/>
          <p:cNvSpPr txBox="1"/>
          <p:nvPr/>
        </p:nvSpPr>
        <p:spPr>
          <a:xfrm>
            <a:off x="438912" y="3931920"/>
            <a:ext cx="2002536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Artifacts ≈ 14 MB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Parquet · GeoJSON · model card · evidence — baked into the Docker image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1440180" y="2194560"/>
            <a:ext cx="0" cy="201168"/>
          </a:xfrm>
          <a:prstGeom prst="line">
            <a:avLst/>
          </a:prstGeom>
          <a:ln w="1587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40180" y="2962656"/>
            <a:ext cx="0" cy="201168"/>
          </a:xfrm>
          <a:prstGeom prst="line">
            <a:avLst/>
          </a:prstGeom>
          <a:ln w="1587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440180" y="3730752"/>
            <a:ext cx="0" cy="201168"/>
          </a:xfrm>
          <a:prstGeom prst="line">
            <a:avLst/>
          </a:prstGeom>
          <a:ln w="1587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duh-api frame"/>
          <p:cNvSpPr/>
          <p:nvPr/>
        </p:nvSpPr>
        <p:spPr>
          <a:xfrm>
            <a:off x="2926080" y="1481328"/>
            <a:ext cx="3520440" cy="3227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teduh-api label"/>
          <p:cNvSpPr txBox="1"/>
          <p:nvPr/>
        </p:nvSpPr>
        <p:spPr>
          <a:xfrm>
            <a:off x="2999232" y="1517904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900" b="1" i="0">
                <a:solidFill>
                  <a:srgbClr val="1F1F1F"/>
                </a:solidFill>
                <a:latin typeface="Arial"/>
              </a:rPr>
              <a:t>Cloud Run · teduh-api  (FastAPI + Google ADK)</a:t>
            </a:r>
          </a:p>
        </p:txBody>
      </p:sp>
      <p:sp>
        <p:nvSpPr>
          <p:cNvPr id="176" name="Coordinator"/>
          <p:cNvSpPr/>
          <p:nvPr/>
        </p:nvSpPr>
        <p:spPr>
          <a:xfrm>
            <a:off x="3063240" y="1810512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Coordinator text"/>
          <p:cNvSpPr txBox="1"/>
          <p:nvPr/>
        </p:nvSpPr>
        <p:spPr>
          <a:xfrm>
            <a:off x="3090672" y="1810512"/>
            <a:ext cx="1911095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teduh_coordinator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root agent · routes, never computes</a:t>
            </a:r>
          </a:p>
        </p:txBody>
      </p:sp>
      <p:sp>
        <p:nvSpPr>
          <p:cNvPr id="178" name="Sub heat_analyst"/>
          <p:cNvSpPr/>
          <p:nvPr/>
        </p:nvSpPr>
        <p:spPr>
          <a:xfrm>
            <a:off x="3063240" y="2487168"/>
            <a:ext cx="786384" cy="384048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Sub heat_analyst text"/>
          <p:cNvSpPr txBox="1"/>
          <p:nvPr/>
        </p:nvSpPr>
        <p:spPr>
          <a:xfrm>
            <a:off x="3090672" y="248716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750" b="1" i="0">
                <a:solidFill>
                  <a:srgbClr val="1F1F1F"/>
                </a:solidFill>
                <a:latin typeface="Arial"/>
              </a:rPr>
              <a:t>heat_​analyst</a:t>
            </a:r>
          </a:p>
        </p:txBody>
      </p:sp>
      <p:cxnSp>
        <p:nvCxnSpPr>
          <p:cNvPr id="180" name="Connector 179"/>
          <p:cNvCxnSpPr/>
          <p:nvPr/>
        </p:nvCxnSpPr>
        <p:spPr>
          <a:xfrm flipH="1">
            <a:off x="3456432" y="2267712"/>
            <a:ext cx="585216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Sub intervention_planner"/>
          <p:cNvSpPr/>
          <p:nvPr/>
        </p:nvSpPr>
        <p:spPr>
          <a:xfrm>
            <a:off x="3904488" y="2487168"/>
            <a:ext cx="786384" cy="384048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Sub intervention_planner text"/>
          <p:cNvSpPr txBox="1"/>
          <p:nvPr/>
        </p:nvSpPr>
        <p:spPr>
          <a:xfrm>
            <a:off x="3931920" y="248716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750" b="1" i="0">
                <a:solidFill>
                  <a:srgbClr val="1F1F1F"/>
                </a:solidFill>
                <a:latin typeface="Arial"/>
              </a:rPr>
              <a:t>intervention_​planner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4041648" y="2267712"/>
            <a:ext cx="256032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Sub policy_writer"/>
          <p:cNvSpPr/>
          <p:nvPr/>
        </p:nvSpPr>
        <p:spPr>
          <a:xfrm>
            <a:off x="4745736" y="2487168"/>
            <a:ext cx="786384" cy="384048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Sub policy_writer text"/>
          <p:cNvSpPr txBox="1"/>
          <p:nvPr/>
        </p:nvSpPr>
        <p:spPr>
          <a:xfrm>
            <a:off x="4773168" y="248716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750" b="1" i="0">
                <a:solidFill>
                  <a:srgbClr val="1F1F1F"/>
                </a:solidFill>
                <a:latin typeface="Arial"/>
              </a:rPr>
              <a:t>policy_​writer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4041648" y="2267712"/>
            <a:ext cx="1097280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Sub roof_inspector"/>
          <p:cNvSpPr/>
          <p:nvPr/>
        </p:nvSpPr>
        <p:spPr>
          <a:xfrm>
            <a:off x="5586984" y="2487168"/>
            <a:ext cx="786384" cy="384048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Sub roof_inspector text"/>
          <p:cNvSpPr txBox="1"/>
          <p:nvPr/>
        </p:nvSpPr>
        <p:spPr>
          <a:xfrm>
            <a:off x="5614416" y="2487168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750" b="1" i="0">
                <a:solidFill>
                  <a:srgbClr val="1F1F1F"/>
                </a:solidFill>
                <a:latin typeface="Arial"/>
              </a:rPr>
              <a:t>roof_​inspector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4041648" y="2267712"/>
            <a:ext cx="1938528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ools"/>
          <p:cNvSpPr/>
          <p:nvPr/>
        </p:nvSpPr>
        <p:spPr>
          <a:xfrm>
            <a:off x="3063240" y="3090672"/>
            <a:ext cx="3246120" cy="868680"/>
          </a:xfrm>
          <a:prstGeom prst="roundRect">
            <a:avLst>
              <a:gd name="adj" fmla="val 8000"/>
            </a:avLst>
          </a:prstGeom>
          <a:solidFill>
            <a:srgbClr val="F2F8F8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Tools text"/>
          <p:cNvSpPr txBox="1"/>
          <p:nvPr/>
        </p:nvSpPr>
        <p:spPr>
          <a:xfrm>
            <a:off x="3090672" y="3090672"/>
            <a:ext cx="3191256" cy="86868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Deterministic Python tools  →  facts[ id, value, unit, source ]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find / profile / rank / explain_drivers · simulate_intervention · optimize_portfolio (OR-Tools CP-SAT) · get_evidence (verified only) · render_policy_brief + provenance validator · roof rules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3456432" y="2871216"/>
            <a:ext cx="0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4297680" y="2871216"/>
            <a:ext cx="0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5138928" y="2871216"/>
            <a:ext cx="0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980176" y="2871216"/>
            <a:ext cx="0" cy="219456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Endpoints"/>
          <p:cNvSpPr/>
          <p:nvPr/>
        </p:nvSpPr>
        <p:spPr>
          <a:xfrm>
            <a:off x="3063240" y="4114800"/>
            <a:ext cx="3246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Endpoints text"/>
          <p:cNvSpPr txBox="1"/>
          <p:nvPr/>
        </p:nvSpPr>
        <p:spPr>
          <a:xfrm>
            <a:off x="3090672" y="4114800"/>
            <a:ext cx="3191256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REST /api/*  +  ADK /run_sse (streaming chat)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UI sliders and the agent call the same tool functions</a:t>
            </a:r>
          </a:p>
        </p:txBody>
      </p:sp>
      <p:sp>
        <p:nvSpPr>
          <p:cNvPr id="198" name="Gemini"/>
          <p:cNvSpPr/>
          <p:nvPr/>
        </p:nvSpPr>
        <p:spPr>
          <a:xfrm>
            <a:off x="5138928" y="1810512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Gemini text"/>
          <p:cNvSpPr txBox="1"/>
          <p:nvPr/>
        </p:nvSpPr>
        <p:spPr>
          <a:xfrm>
            <a:off x="5166360" y="1810512"/>
            <a:ext cx="1179576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1000" b="1" i="0">
                <a:solidFill>
                  <a:srgbClr val="1F1F1F"/>
                </a:solidFill>
                <a:latin typeface="Arial"/>
              </a:rPr>
              <a:t>Gemini 2.5 Flash</a:t>
            </a:r>
          </a:p>
          <a:p>
            <a:pPr algn="ctr"/>
            <a:r>
              <a:rPr sz="850" b="0" i="0">
                <a:solidFill>
                  <a:srgbClr val="5F6368"/>
                </a:solidFill>
                <a:latin typeface="Arial"/>
              </a:rPr>
              <a:t>Vertex AI · text + vision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5029200" y="2039112"/>
            <a:ext cx="109728" cy="0"/>
          </a:xfrm>
          <a:prstGeom prst="line">
            <a:avLst/>
          </a:prstGeom>
          <a:ln w="12700">
            <a:solidFill>
              <a:srgbClr val="006E7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2468880" y="4315968"/>
            <a:ext cx="457200" cy="0"/>
          </a:xfrm>
          <a:prstGeom prst="line">
            <a:avLst/>
          </a:prstGeom>
          <a:ln w="15875">
            <a:solidFill>
              <a:srgbClr val="006E7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baked label"/>
          <p:cNvSpPr txBox="1"/>
          <p:nvPr/>
        </p:nvSpPr>
        <p:spPr>
          <a:xfrm>
            <a:off x="2395728" y="4352544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ctr"/>
            <a:r>
              <a:rPr sz="700" b="0" i="0">
                <a:solidFill>
                  <a:srgbClr val="5F6368"/>
                </a:solidFill>
                <a:latin typeface="Arial"/>
              </a:rPr>
              <a:t>image</a:t>
            </a:r>
          </a:p>
        </p:txBody>
      </p:sp>
      <p:sp>
        <p:nvSpPr>
          <p:cNvPr id="203" name="Web"/>
          <p:cNvSpPr/>
          <p:nvPr/>
        </p:nvSpPr>
        <p:spPr>
          <a:xfrm>
            <a:off x="6903720" y="1481328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Web text"/>
          <p:cNvSpPr txBox="1"/>
          <p:nvPr/>
        </p:nvSpPr>
        <p:spPr>
          <a:xfrm>
            <a:off x="6931152" y="1481328"/>
            <a:ext cx="1773936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Cloud Run · teduh-web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Next.js + MapLibre map, SSE chat, scenario panel, /cek-atap</a:t>
            </a:r>
          </a:p>
        </p:txBody>
      </p:sp>
      <p:sp>
        <p:nvSpPr>
          <p:cNvPr id="205" name="Planner"/>
          <p:cNvSpPr/>
          <p:nvPr/>
        </p:nvSpPr>
        <p:spPr>
          <a:xfrm>
            <a:off x="6903720" y="251460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Planner text"/>
          <p:cNvSpPr txBox="1"/>
          <p:nvPr/>
        </p:nvSpPr>
        <p:spPr>
          <a:xfrm>
            <a:off x="6931152" y="2514600"/>
            <a:ext cx="1773936" cy="56692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Planner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Bappeda · Dinas · Lurah — map + chat</a:t>
            </a:r>
          </a:p>
        </p:txBody>
      </p:sp>
      <p:sp>
        <p:nvSpPr>
          <p:cNvPr id="207" name="Resident"/>
          <p:cNvSpPr/>
          <p:nvPr/>
        </p:nvSpPr>
        <p:spPr>
          <a:xfrm>
            <a:off x="6903720" y="324612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sident text"/>
          <p:cNvSpPr txBox="1"/>
          <p:nvPr/>
        </p:nvSpPr>
        <p:spPr>
          <a:xfrm>
            <a:off x="6931152" y="3246120"/>
            <a:ext cx="1773936" cy="56692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Resident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Roof Check from a phone</a:t>
            </a:r>
          </a:p>
        </p:txBody>
      </p:sp>
      <p:sp>
        <p:nvSpPr>
          <p:cNvPr id="209" name="Brief"/>
          <p:cNvSpPr/>
          <p:nvPr/>
        </p:nvSpPr>
        <p:spPr>
          <a:xfrm>
            <a:off x="6903720" y="3977639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Brief text"/>
          <p:cNvSpPr txBox="1"/>
          <p:nvPr/>
        </p:nvSpPr>
        <p:spPr>
          <a:xfrm>
            <a:off x="6931152" y="3977639"/>
            <a:ext cx="1773936" cy="73152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1" i="0">
                <a:solidFill>
                  <a:srgbClr val="1F1F1F"/>
                </a:solidFill>
                <a:latin typeface="Arial"/>
              </a:rPr>
              <a:t>Policy brief PDF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every figure tagged [[F:id]] and traced to data, model or literature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6446520" y="1874519"/>
            <a:ext cx="457200" cy="0"/>
          </a:xfrm>
          <a:prstGeom prst="line">
            <a:avLst/>
          </a:prstGeom>
          <a:ln w="15875">
            <a:solidFill>
              <a:srgbClr val="006E7A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818120" y="2258568"/>
            <a:ext cx="0" cy="256032"/>
          </a:xfrm>
          <a:prstGeom prst="line">
            <a:avLst/>
          </a:prstGeom>
          <a:ln w="1587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818120" y="3081528"/>
            <a:ext cx="0" cy="164592"/>
          </a:xfrm>
          <a:prstGeom prst="line">
            <a:avLst/>
          </a:prstGeom>
          <a:ln w="952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6309360" y="4343400"/>
            <a:ext cx="594360" cy="0"/>
          </a:xfrm>
          <a:prstGeom prst="line">
            <a:avLst/>
          </a:prstGeom>
          <a:ln w="15875">
            <a:solidFill>
              <a:srgbClr val="006E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408225" y="1215425"/>
            <a:ext cx="24237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8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489125" y="1280793"/>
            <a:ext cx="16080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AI &amp; Agents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386300" y="1571888"/>
            <a:ext cx="443484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Gemini 2.5 Flash on Vertex AI • Google ADK • Gemini vision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86300" y="1994962"/>
            <a:ext cx="24456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467200" y="2060337"/>
            <a:ext cx="2660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ML &amp; Explainability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386300" y="2350029"/>
            <a:ext cx="3797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LightGBM (monotonic) </a:t>
            </a:r>
            <a:r>
              <a:rPr lang="en-ID" sz="1200">
                <a:solidFill>
                  <a:schemeClr val="dk1"/>
                </a:solidFill>
              </a:rPr>
              <a:t>• SHAP • scikit-learn • spatial block cross-validation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916425" y="1177046"/>
            <a:ext cx="24456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4997325" y="1242421"/>
            <a:ext cx="2660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Data &amp; Geospatial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4916425" y="1532125"/>
            <a:ext cx="4051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Google Earth Engine • Landsat 8/9 • Sentinel-2 • WorldCover • Open Buildings • WorldPop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86300" y="3009538"/>
            <a:ext cx="24456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467200" y="3074913"/>
            <a:ext cx="2660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Backend &amp; Hosting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386300" y="3364605"/>
            <a:ext cx="3797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Python</a:t>
            </a:r>
            <a:r>
              <a:rPr lang="en-ID" sz="1200">
                <a:solidFill>
                  <a:schemeClr val="dk1"/>
                </a:solidFill>
              </a:rPr>
              <a:t> 3.12 </a:t>
            </a:r>
            <a:r>
              <a:rPr lang="en-ID" sz="1200">
                <a:solidFill>
                  <a:schemeClr val="dk1"/>
                </a:solidFill>
              </a:rPr>
              <a:t>• FastAPI • Cloud Run • Cloud Build • Secret Manager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916425" y="2200768"/>
            <a:ext cx="24456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4997325" y="2266143"/>
            <a:ext cx="2660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Optimization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4916425" y="2555838"/>
            <a:ext cx="4051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Google OR-Tools CP-SAT</a:t>
            </a:r>
            <a:r>
              <a:rPr lang="en-ID" sz="1200">
                <a:solidFill>
                  <a:schemeClr val="dk1"/>
                </a:solidFill>
              </a:rPr>
              <a:t> (budget + equity) • pymoo NSGA-II (roadmap)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916425" y="3236136"/>
            <a:ext cx="24456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4997325" y="3301511"/>
            <a:ext cx="2660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Interface &amp; Storage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4916425" y="3591210"/>
            <a:ext cx="4051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Next.js </a:t>
            </a:r>
            <a:r>
              <a:rPr lang="en-ID" sz="1200">
                <a:solidFill>
                  <a:schemeClr val="dk1"/>
                </a:solidFill>
              </a:rPr>
              <a:t>• TypeScript • Tailwind • MapLibre </a:t>
            </a:r>
            <a:r>
              <a:rPr lang="en-ID" sz="1200">
                <a:solidFill>
                  <a:schemeClr val="dk1"/>
                </a:solidFill>
              </a:rPr>
              <a:t>• artifacts baked into the image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86300" y="4053396"/>
            <a:ext cx="2445600" cy="387900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467200" y="4118771"/>
            <a:ext cx="26607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Evidence &amp; Reporting</a:t>
            </a:r>
            <a:endParaRPr b="1" i="0" sz="1500" u="none" cap="none" strike="noStrike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437750" y="4408800"/>
            <a:ext cx="74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ID" sz="1200">
                <a:solidFill>
                  <a:schemeClr val="dk1"/>
                </a:solidFill>
              </a:rPr>
              <a:t>Verified evidence base </a:t>
            </a:r>
            <a:r>
              <a:rPr lang="en-ID" sz="1200">
                <a:solidFill>
                  <a:schemeClr val="dk1"/>
                </a:solidFill>
              </a:rPr>
              <a:t>• number-provenance validator • Markdown → PDF (WeasyPrint)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430510" y="4727869"/>
            <a:ext cx="557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i="1" lang="en-ID" sz="900">
                <a:solidFill>
                  <a:schemeClr val="dk1"/>
                </a:solidFill>
              </a:rPr>
              <a:t>Model and region verified on Vertex AI: gemini-2.5-flash in asia-southeast1 (Singapore).</a:t>
            </a:r>
            <a:endParaRPr i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07" name="Running cost card"/>
          <p:cNvSpPr/>
          <p:nvPr/>
        </p:nvSpPr>
        <p:spPr>
          <a:xfrm>
            <a:off x="265176" y="1188720"/>
            <a:ext cx="4572000" cy="3611880"/>
          </a:xfrm>
          <a:prstGeom prst="roundRect">
            <a:avLst>
              <a:gd fmla="val 3291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8" name="Cost header"/>
          <p:cNvSpPr txBox="1"/>
          <p:nvPr/>
        </p:nvSpPr>
        <p:spPr>
          <a:xfrm>
            <a:off x="384048" y="1261872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200" b="1" i="0">
                <a:solidFill>
                  <a:srgbClr val="1F1F1F"/>
                </a:solidFill>
                <a:latin typeface="Arial"/>
              </a:rPr>
              <a:t>Running TEDUH for one pilot city · per month</a:t>
            </a:r>
          </a:p>
        </p:txBody>
      </p:sp>
      <p:sp>
        <p:nvSpPr>
          <p:cNvPr id="5009" name="Cost row"/>
          <p:cNvSpPr txBox="1"/>
          <p:nvPr/>
        </p:nvSpPr>
        <p:spPr>
          <a:xfrm>
            <a:off x="384048" y="1627632"/>
            <a:ext cx="324612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0" i="0">
                <a:solidFill>
                  <a:srgbClr val="1F1F1F"/>
                </a:solidFill>
                <a:latin typeface="Arial"/>
              </a:rPr>
              <a:t>teduh-api · Cloud Run, 2 vCPU / 2 GiB, 1 warm instance</a:t>
            </a:r>
          </a:p>
        </p:txBody>
      </p:sp>
      <p:sp>
        <p:nvSpPr>
          <p:cNvPr id="5010" name="Cost value"/>
          <p:cNvSpPr txBox="1"/>
          <p:nvPr/>
        </p:nvSpPr>
        <p:spPr>
          <a:xfrm>
            <a:off x="3611880" y="1627632"/>
            <a:ext cx="109728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/>
            <a:r>
              <a:rPr sz="1100" b="1" i="0">
                <a:solidFill>
                  <a:srgbClr val="006E7A"/>
                </a:solidFill>
                <a:latin typeface="Arial"/>
              </a:rPr>
              <a:t>≈ USD 26</a:t>
            </a:r>
          </a:p>
        </p:txBody>
      </p:sp>
      <p:sp>
        <p:nvSpPr>
          <p:cNvPr id="5011" name="Cost row"/>
          <p:cNvSpPr txBox="1"/>
          <p:nvPr/>
        </p:nvSpPr>
        <p:spPr>
          <a:xfrm>
            <a:off x="384048" y="2048256"/>
            <a:ext cx="324612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0" i="0">
                <a:solidFill>
                  <a:srgbClr val="1F1F1F"/>
                </a:solidFill>
                <a:latin typeface="Arial"/>
              </a:rPr>
              <a:t>teduh-web · Cloud Run, 1 vCPU / 0.5 GiB, 1 warm instance</a:t>
            </a:r>
          </a:p>
        </p:txBody>
      </p:sp>
      <p:sp>
        <p:nvSpPr>
          <p:cNvPr id="5012" name="Cost value"/>
          <p:cNvSpPr txBox="1"/>
          <p:nvPr/>
        </p:nvSpPr>
        <p:spPr>
          <a:xfrm>
            <a:off x="3611880" y="2048256"/>
            <a:ext cx="109728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/>
            <a:r>
              <a:rPr sz="1100" b="1" i="0">
                <a:solidFill>
                  <a:srgbClr val="006E7A"/>
                </a:solidFill>
                <a:latin typeface="Arial"/>
              </a:rPr>
              <a:t>≈ USD 10</a:t>
            </a:r>
          </a:p>
        </p:txBody>
      </p:sp>
      <p:sp>
        <p:nvSpPr>
          <p:cNvPr id="5013" name="Cost row"/>
          <p:cNvSpPr txBox="1"/>
          <p:nvPr/>
        </p:nvSpPr>
        <p:spPr>
          <a:xfrm>
            <a:off x="384048" y="2468880"/>
            <a:ext cx="324612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0" i="0">
                <a:solidFill>
                  <a:srgbClr val="1F1F1F"/>
                </a:solidFill>
                <a:latin typeface="Arial"/>
              </a:rPr>
              <a:t>Gemini 2.5 Flash · 1,000 planner questions
(~20k input + 1k output tokens each)*</a:t>
            </a:r>
          </a:p>
        </p:txBody>
      </p:sp>
      <p:sp>
        <p:nvSpPr>
          <p:cNvPr id="5014" name="Cost value"/>
          <p:cNvSpPr txBox="1"/>
          <p:nvPr/>
        </p:nvSpPr>
        <p:spPr>
          <a:xfrm>
            <a:off x="3611880" y="2468880"/>
            <a:ext cx="109728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/>
            <a:r>
              <a:rPr sz="1100" b="1" i="0">
                <a:solidFill>
                  <a:srgbClr val="006E7A"/>
                </a:solidFill>
                <a:latin typeface="Arial"/>
              </a:rPr>
              <a:t>≈ USD 9</a:t>
            </a:r>
          </a:p>
        </p:txBody>
      </p:sp>
      <p:sp>
        <p:nvSpPr>
          <p:cNvPr id="5015" name="Cost row"/>
          <p:cNvSpPr txBox="1"/>
          <p:nvPr/>
        </p:nvSpPr>
        <p:spPr>
          <a:xfrm>
            <a:off x="384048" y="2980944"/>
            <a:ext cx="324612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000" b="0" i="0">
                <a:solidFill>
                  <a:srgbClr val="1F1F1F"/>
                </a:solidFill>
                <a:latin typeface="Arial"/>
              </a:rPr>
              <a:t>Earth Engine pipeline · offline, once per season; open datasets</a:t>
            </a:r>
          </a:p>
        </p:txBody>
      </p:sp>
      <p:sp>
        <p:nvSpPr>
          <p:cNvPr id="5016" name="Cost value"/>
          <p:cNvSpPr txBox="1"/>
          <p:nvPr/>
        </p:nvSpPr>
        <p:spPr>
          <a:xfrm>
            <a:off x="3611880" y="2980944"/>
            <a:ext cx="109728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/>
            <a:r>
              <a:rPr sz="1100" b="1" i="0">
                <a:solidFill>
                  <a:srgbClr val="006E7A"/>
                </a:solidFill>
                <a:latin typeface="Arial"/>
              </a:rPr>
              <a:t>USD 0 licence</a:t>
            </a:r>
          </a:p>
        </p:txBody>
      </p:sp>
      <p:cxnSp>
        <p:nvCxnSpPr>
          <p:cNvPr id="5017" name="Connector 5016"/>
          <p:cNvCxnSpPr/>
          <p:nvPr/>
        </p:nvCxnSpPr>
        <p:spPr>
          <a:xfrm>
            <a:off x="411480" y="3419856"/>
            <a:ext cx="4279392" cy="0"/>
          </a:xfrm>
          <a:prstGeom prst="line">
            <a:avLst/>
          </a:prstGeom>
          <a:ln w="12700">
            <a:solidFill>
              <a:srgbClr val="D5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18" name="Total label"/>
          <p:cNvSpPr txBox="1"/>
          <p:nvPr/>
        </p:nvSpPr>
        <p:spPr>
          <a:xfrm>
            <a:off x="384048" y="3465576"/>
            <a:ext cx="324612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100" b="1" i="0">
                <a:solidFill>
                  <a:srgbClr val="1F1F1F"/>
                </a:solidFill>
                <a:latin typeface="Arial"/>
              </a:rPr>
              <a:t>Total, lower bound</a:t>
            </a:r>
          </a:p>
        </p:txBody>
      </p:sp>
      <p:sp>
        <p:nvSpPr>
          <p:cNvPr id="5019" name="Total value"/>
          <p:cNvSpPr txBox="1"/>
          <p:nvPr/>
        </p:nvSpPr>
        <p:spPr>
          <a:xfrm>
            <a:off x="3429000" y="3465576"/>
            <a:ext cx="12801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/>
            <a:r>
              <a:rPr sz="1500" b="1" i="0">
                <a:solidFill>
                  <a:srgbClr val="006E7A"/>
                </a:solidFill>
                <a:latin typeface="Arial"/>
              </a:rPr>
              <a:t>≈ USD 45</a:t>
            </a:r>
          </a:p>
        </p:txBody>
      </p:sp>
      <p:sp>
        <p:nvSpPr>
          <p:cNvPr id="5020" name="Cost footnote"/>
          <p:cNvSpPr txBox="1"/>
          <p:nvPr/>
        </p:nvSpPr>
        <p:spPr>
          <a:xfrm>
            <a:off x="384048" y="4041648"/>
            <a:ext cx="4343400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800" b="0" i="0">
                <a:solidFill>
                  <a:srgbClr val="5F6368"/>
                </a:solidFill>
                <a:latin typeface="Arial"/>
              </a:rPr>
              <a:t>Google Cloud list prices: Cloud Run idle min-instance USD 0.0000025 per vCPU-second and per GiB-second; Gemini 2.5 Flash USD 0.30 / 2.50 per 1M input / output tokens. Excludes active-request time, the Tier-2 regional rate, tax and egress. *Token volume is an assumption, not a measurement.</a:t>
            </a:r>
          </a:p>
        </p:txBody>
      </p:sp>
      <p:sp>
        <p:nvSpPr>
          <p:cNvPr id="5008" name="Unit cost card"/>
          <p:cNvSpPr/>
          <p:nvPr/>
        </p:nvSpPr>
        <p:spPr>
          <a:xfrm>
            <a:off x="5029200" y="1188720"/>
            <a:ext cx="3840480" cy="2240280"/>
          </a:xfrm>
          <a:prstGeom prst="roundRect">
            <a:avLst>
              <a:gd fmla="val 5306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1" name="Unit header"/>
          <p:cNvSpPr txBox="1"/>
          <p:nvPr/>
        </p:nvSpPr>
        <p:spPr>
          <a:xfrm>
            <a:off x="5138928" y="126187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200" b="1" i="0">
                <a:solidFill>
                  <a:srgbClr val="1F1F1F"/>
                </a:solidFill>
                <a:latin typeface="Arial"/>
              </a:rPr>
              <a:t>Unit costs the optimizer uses</a:t>
            </a:r>
          </a:p>
        </p:txBody>
      </p:sp>
      <p:sp>
        <p:nvSpPr>
          <p:cNvPr id="5022" name="Unit row"/>
          <p:cNvSpPr txBox="1"/>
          <p:nvPr/>
        </p:nvSpPr>
        <p:spPr>
          <a:xfrm>
            <a:off x="5138928" y="1609344"/>
            <a:ext cx="237744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Shade tree, Tabebuya Ø &gt; 20 cm</a:t>
            </a:r>
          </a:p>
          <a:p>
            <a:pPr algn="l"/>
            <a:r>
              <a:rPr sz="750" b="0" i="0">
                <a:solidFill>
                  <a:srgbClr val="5F6368"/>
                </a:solidFill>
                <a:latin typeface="Arial"/>
              </a:rPr>
              <a:t>Kepgub DKI 811/2025</a:t>
            </a:r>
          </a:p>
        </p:txBody>
      </p:sp>
      <p:sp>
        <p:nvSpPr>
          <p:cNvPr id="5023" name="Unit value"/>
          <p:cNvSpPr txBox="1"/>
          <p:nvPr/>
        </p:nvSpPr>
        <p:spPr>
          <a:xfrm>
            <a:off x="7452360" y="1609344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r"/>
            <a:r>
              <a:rPr sz="1000" b="1" i="0">
                <a:solidFill>
                  <a:srgbClr val="006E7A"/>
                </a:solidFill>
                <a:latin typeface="Arial"/>
              </a:rPr>
              <a:t>Rp 2,702,703</a:t>
            </a:r>
          </a:p>
        </p:txBody>
      </p:sp>
      <p:sp>
        <p:nvSpPr>
          <p:cNvPr id="5024" name="Unit row"/>
          <p:cNvSpPr txBox="1"/>
          <p:nvPr/>
        </p:nvSpPr>
        <p:spPr>
          <a:xfrm>
            <a:off x="5138928" y="2048256"/>
            <a:ext cx="237744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Tree handling (rootball, proxy)</a:t>
            </a:r>
          </a:p>
          <a:p>
            <a:pPr algn="l"/>
            <a:r>
              <a:rPr sz="750" b="0" i="0">
                <a:solidFill>
                  <a:srgbClr val="5F6368"/>
                </a:solidFill>
                <a:latin typeface="Arial"/>
              </a:rPr>
              <a:t>Kepgub DKI 811/2025</a:t>
            </a:r>
          </a:p>
        </p:txBody>
      </p:sp>
      <p:sp>
        <p:nvSpPr>
          <p:cNvPr id="5025" name="Unit value"/>
          <p:cNvSpPr txBox="1"/>
          <p:nvPr/>
        </p:nvSpPr>
        <p:spPr>
          <a:xfrm>
            <a:off x="7452360" y="2048256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r"/>
            <a:r>
              <a:rPr sz="1000" b="1" i="0">
                <a:solidFill>
                  <a:srgbClr val="006E7A"/>
                </a:solidFill>
                <a:latin typeface="Arial"/>
              </a:rPr>
              <a:t>Rp 1,950,000</a:t>
            </a:r>
          </a:p>
        </p:txBody>
      </p:sp>
      <p:sp>
        <p:nvSpPr>
          <p:cNvPr id="5026" name="Unit row"/>
          <p:cNvSpPr txBox="1"/>
          <p:nvPr/>
        </p:nvSpPr>
        <p:spPr>
          <a:xfrm>
            <a:off x="5138928" y="2487168"/>
            <a:ext cx="237744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Cool roof coating, per m²</a:t>
            </a:r>
          </a:p>
          <a:p>
            <a:pPr algn="l"/>
            <a:r>
              <a:rPr sz="750" b="0" i="0">
                <a:solidFill>
                  <a:srgbClr val="5F6368"/>
                </a:solidFill>
                <a:latin typeface="Arial"/>
              </a:rPr>
              <a:t>assumption · vendor quote pending</a:t>
            </a:r>
          </a:p>
        </p:txBody>
      </p:sp>
      <p:sp>
        <p:nvSpPr>
          <p:cNvPr id="5027" name="Unit value"/>
          <p:cNvSpPr txBox="1"/>
          <p:nvPr/>
        </p:nvSpPr>
        <p:spPr>
          <a:xfrm>
            <a:off x="7452360" y="2487168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r"/>
            <a:r>
              <a:rPr sz="1000" b="1" i="0">
                <a:solidFill>
                  <a:srgbClr val="006E7A"/>
                </a:solidFill>
                <a:latin typeface="Arial"/>
              </a:rPr>
              <a:t>Rp 95,000</a:t>
            </a:r>
          </a:p>
        </p:txBody>
      </p:sp>
      <p:sp>
        <p:nvSpPr>
          <p:cNvPr id="5028" name="Unit row"/>
          <p:cNvSpPr txBox="1"/>
          <p:nvPr/>
        </p:nvSpPr>
        <p:spPr>
          <a:xfrm>
            <a:off x="5138928" y="2926080"/>
            <a:ext cx="237744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950" b="0" i="0">
                <a:solidFill>
                  <a:srgbClr val="1F1F1F"/>
                </a:solidFill>
                <a:latin typeface="Arial"/>
              </a:rPr>
              <a:t>Green roof (extensive), per m²</a:t>
            </a:r>
          </a:p>
          <a:p>
            <a:pPr algn="l"/>
            <a:r>
              <a:rPr sz="750" b="0" i="0">
                <a:solidFill>
                  <a:srgbClr val="5F6368"/>
                </a:solidFill>
                <a:latin typeface="Arial"/>
              </a:rPr>
              <a:t>assumption · vendor quote pending</a:t>
            </a:r>
          </a:p>
        </p:txBody>
      </p:sp>
      <p:sp>
        <p:nvSpPr>
          <p:cNvPr id="5029" name="Unit value"/>
          <p:cNvSpPr txBox="1"/>
          <p:nvPr/>
        </p:nvSpPr>
        <p:spPr>
          <a:xfrm>
            <a:off x="7452360" y="2926080"/>
            <a:ext cx="132588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r"/>
            <a:r>
              <a:rPr sz="1000" b="1" i="0">
                <a:solidFill>
                  <a:srgbClr val="006E7A"/>
                </a:solidFill>
                <a:latin typeface="Arial"/>
              </a:rPr>
              <a:t>Rp 600,000</a:t>
            </a:r>
          </a:p>
        </p:txBody>
      </p:sp>
      <p:sp>
        <p:nvSpPr>
          <p:cNvPr id="5030" name="Live example"/>
          <p:cNvSpPr/>
          <p:nvPr/>
        </p:nvSpPr>
        <p:spPr>
          <a:xfrm>
            <a:off x="5029200" y="3584448"/>
            <a:ext cx="3840480" cy="1216152"/>
          </a:xfrm>
          <a:prstGeom prst="roundRect">
            <a:avLst>
              <a:gd name="adj" fmla="val 8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1" name="Live example text"/>
          <p:cNvSpPr txBox="1"/>
          <p:nvPr/>
        </p:nvSpPr>
        <p:spPr>
          <a:xfrm>
            <a:off x="5138928" y="3630168"/>
            <a:ext cx="3657600" cy="11430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Live example · Central Jakarta, Rp 50 bn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Agent built a 5-kelurahan cool-roof portfolio for Rp 49.9 bn, 100% of it in the top HVI quintile, reaching ≈ 9,200 vulnerable residents in cooled cells (indicative LST).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204" name="Snapshot subtitle"/>
          <p:cNvSpPr txBox="1"/>
          <p:nvPr/>
        </p:nvSpPr>
        <p:spPr>
          <a:xfrm>
            <a:off x="265176" y="111556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100" b="0" i="0">
                <a:solidFill>
                  <a:srgbClr val="5F6368"/>
                </a:solidFill>
                <a:latin typeface="Arial"/>
              </a:rPr>
              <a:t>Live on Cloud Run · captured from the deployed app (English UI)</a:t>
            </a:r>
          </a:p>
        </p:txBody>
      </p:sp>
      <p:sp>
        <p:nvSpPr>
          <p:cNvPr id="5009" name="Snapshot frame"/>
          <p:cNvSpPr/>
          <p:nvPr/>
        </p:nvSpPr>
        <p:spPr>
          <a:xfrm>
            <a:off x="228599" y="1426464"/>
            <a:ext cx="4279392" cy="3067102"/>
          </a:xfrm>
          <a:prstGeom prst="roundRect">
            <a:avLst>
              <a:gd fmla="val 3875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0" name="Picture 5009" descr="snap_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" y="1463040"/>
            <a:ext cx="4206240" cy="2317294"/>
          </a:xfrm>
          <a:prstGeom prst="rect">
            <a:avLst/>
          </a:prstGeom>
        </p:spPr>
      </p:pic>
      <p:sp>
        <p:nvSpPr>
          <p:cNvPr id="5011" name="Snapshot caption"/>
          <p:cNvSpPr txBox="1"/>
          <p:nvPr/>
        </p:nvSpPr>
        <p:spPr>
          <a:xfrm>
            <a:off x="265176" y="3835198"/>
            <a:ext cx="4206240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050" b="1" i="0">
                <a:solidFill>
                  <a:srgbClr val="1F1F1F"/>
                </a:solidFill>
                <a:latin typeface="Arial"/>
              </a:rPr>
              <a:t>Heat &amp; vulnerability map + kelurahan profile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264 kelurahan, LST / HVI / NDVI / vulnerable-people layers; HVI rank and components.</a:t>
            </a:r>
          </a:p>
        </p:txBody>
      </p:sp>
      <p:sp>
        <p:nvSpPr>
          <p:cNvPr id="5010" name="Snapshot frame"/>
          <p:cNvSpPr/>
          <p:nvPr/>
        </p:nvSpPr>
        <p:spPr>
          <a:xfrm>
            <a:off x="4636007" y="1426464"/>
            <a:ext cx="4279392" cy="3067102"/>
          </a:xfrm>
          <a:prstGeom prst="roundRect">
            <a:avLst>
              <a:gd fmla="val 3875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2" name="Picture 5011" descr="snap_4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3" y="1463040"/>
            <a:ext cx="4206240" cy="2317294"/>
          </a:xfrm>
          <a:prstGeom prst="rect">
            <a:avLst/>
          </a:prstGeom>
        </p:spPr>
      </p:pic>
      <p:sp>
        <p:nvSpPr>
          <p:cNvPr id="5013" name="Snapshot caption"/>
          <p:cNvSpPr txBox="1"/>
          <p:nvPr/>
        </p:nvSpPr>
        <p:spPr>
          <a:xfrm>
            <a:off x="4672583" y="3835198"/>
            <a:ext cx="4206240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050" b="1" i="0">
                <a:solidFill>
                  <a:srgbClr val="1F1F1F"/>
                </a:solidFill>
                <a:latin typeface="Arial"/>
              </a:rPr>
              <a:t>Agent chat with visible tool calls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Simulation via simulate_intervention, each result paired with a verified literature 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1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213" name="Chart 212"/>
          <p:cNvGraphicFramePr>
            <a:graphicFrameLocks noGrp="1"/>
          </p:cNvGraphicFramePr>
          <p:nvPr/>
        </p:nvGraphicFramePr>
        <p:xfrm>
          <a:off x="265176" y="1371600"/>
          <a:ext cx="4023360" cy="224028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5014" name="Stat card"/>
          <p:cNvSpPr/>
          <p:nvPr/>
        </p:nvSpPr>
        <p:spPr>
          <a:xfrm>
            <a:off x="4526280" y="1371600"/>
            <a:ext cx="1371600" cy="1097280"/>
          </a:xfrm>
          <a:prstGeom prst="roundRect">
            <a:avLst>
              <a:gd fmla="val 10833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5" name="Stat text"/>
          <p:cNvSpPr txBox="1"/>
          <p:nvPr/>
        </p:nvSpPr>
        <p:spPr>
          <a:xfrm>
            <a:off x="4572000" y="1417320"/>
            <a:ext cx="1280160" cy="10058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2000" b="1" i="0">
                <a:solidFill>
                  <a:srgbClr val="006E7A"/>
                </a:solidFill>
                <a:latin typeface="Arial"/>
              </a:rPr>
              <a:t>0.755</a:t>
            </a:r>
          </a:p>
          <a:p>
            <a:pPr algn="ctr"/>
            <a:r>
              <a:rPr sz="850" b="1" i="0">
                <a:solidFill>
                  <a:srgbClr val="1F1F1F"/>
                </a:solidFill>
                <a:latin typeface="Arial"/>
              </a:rPr>
              <a:t>mean R², spatial CV</a:t>
            </a:r>
          </a:p>
          <a:p>
            <a:pPr algn="ctr"/>
            <a:r>
              <a:rPr sz="800" b="0" i="0">
                <a:solidFill>
                  <a:srgbClr val="5F6368"/>
                </a:solidFill>
                <a:latin typeface="Arial"/>
              </a:rPr>
              <a:t>folds 0.72 – 0.78</a:t>
            </a:r>
          </a:p>
        </p:txBody>
      </p:sp>
      <p:sp>
        <p:nvSpPr>
          <p:cNvPr id="5015" name="Stat card"/>
          <p:cNvSpPr/>
          <p:nvPr/>
        </p:nvSpPr>
        <p:spPr>
          <a:xfrm>
            <a:off x="5989320" y="1371600"/>
            <a:ext cx="1371600" cy="1097280"/>
          </a:xfrm>
          <a:prstGeom prst="roundRect">
            <a:avLst>
              <a:gd fmla="val 10833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6" name="Stat text"/>
          <p:cNvSpPr txBox="1"/>
          <p:nvPr/>
        </p:nvSpPr>
        <p:spPr>
          <a:xfrm>
            <a:off x="6035040" y="1417320"/>
            <a:ext cx="1280160" cy="10058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2000" b="1" i="0">
                <a:solidFill>
                  <a:srgbClr val="006E7A"/>
                </a:solidFill>
                <a:latin typeface="Arial"/>
              </a:rPr>
              <a:t>1.24 °C</a:t>
            </a:r>
          </a:p>
          <a:p>
            <a:pPr algn="ctr"/>
            <a:r>
              <a:rPr sz="850" b="1" i="0">
                <a:solidFill>
                  <a:srgbClr val="1F1F1F"/>
                </a:solidFill>
                <a:latin typeface="Arial"/>
              </a:rPr>
              <a:t>RMSE</a:t>
            </a:r>
          </a:p>
          <a:p>
            <a:pPr algn="ctr"/>
            <a:r>
              <a:rPr sz="800" b="0" i="0">
                <a:solidFill>
                  <a:srgbClr val="5F6368"/>
                </a:solidFill>
                <a:latin typeface="Arial"/>
              </a:rPr>
              <a:t>MAE 0.94 °C</a:t>
            </a:r>
          </a:p>
        </p:txBody>
      </p:sp>
      <p:sp>
        <p:nvSpPr>
          <p:cNvPr id="5016" name="Stat card"/>
          <p:cNvSpPr/>
          <p:nvPr/>
        </p:nvSpPr>
        <p:spPr>
          <a:xfrm>
            <a:off x="7452360" y="1371600"/>
            <a:ext cx="1371600" cy="1097280"/>
          </a:xfrm>
          <a:prstGeom prst="roundRect">
            <a:avLst>
              <a:gd fmla="val 10833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7" name="Stat text"/>
          <p:cNvSpPr txBox="1"/>
          <p:nvPr/>
        </p:nvSpPr>
        <p:spPr>
          <a:xfrm>
            <a:off x="7498080" y="1417320"/>
            <a:ext cx="1280160" cy="10058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/>
            <a:r>
              <a:rPr sz="2000" b="1" i="0">
                <a:solidFill>
                  <a:srgbClr val="006E7A"/>
                </a:solidFill>
                <a:latin typeface="Arial"/>
              </a:rPr>
              <a:t>+0.069</a:t>
            </a:r>
          </a:p>
          <a:p>
            <a:pPr algn="ctr"/>
            <a:r>
              <a:rPr sz="850" b="1" i="0">
                <a:solidFill>
                  <a:srgbClr val="1F1F1F"/>
                </a:solidFill>
                <a:latin typeface="Arial"/>
              </a:rPr>
              <a:t>R² over linear baseline</a:t>
            </a:r>
          </a:p>
          <a:p>
            <a:pPr algn="ctr"/>
            <a:r>
              <a:rPr sz="800" b="0" i="0">
                <a:solidFill>
                  <a:srgbClr val="5F6368"/>
                </a:solidFill>
                <a:latin typeface="Arial"/>
              </a:rPr>
              <a:t>0.686 → 0.755</a:t>
            </a:r>
          </a:p>
        </p:txBody>
      </p:sp>
      <p:sp>
        <p:nvSpPr>
          <p:cNvPr id="5018" name="Model note"/>
          <p:cNvSpPr txBox="1"/>
          <p:nvPr/>
        </p:nvSpPr>
        <p:spPr>
          <a:xfrm>
            <a:off x="4526280" y="2542032"/>
            <a:ext cx="4297680" cy="10972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75,636 cells × 264 kelurahan, dry season 2023–2025. Lat/lon deliberately excluded; random splits not reported because neighbouring 100 m cells leak.</a:t>
            </a:r>
          </a:p>
        </p:txBody>
      </p:sp>
      <p:sp>
        <p:nvSpPr>
          <p:cNvPr id="5017" name="Check card"/>
          <p:cNvSpPr/>
          <p:nvPr/>
        </p:nvSpPr>
        <p:spPr>
          <a:xfrm>
            <a:off x="265176" y="3730752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9" name="Check text"/>
          <p:cNvSpPr txBox="1"/>
          <p:nvPr/>
        </p:nvSpPr>
        <p:spPr>
          <a:xfrm>
            <a:off x="338328" y="3749039"/>
            <a:ext cx="1874519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300" b="1" i="0">
                <a:solidFill>
                  <a:srgbClr val="006E7A"/>
                </a:solidFill>
                <a:latin typeface="Arial"/>
              </a:rPr>
              <a:t>0.54 %  </a:t>
            </a:r>
            <a:r>
              <a:rPr sz="850" b="0" i="0">
                <a:solidFill>
                  <a:srgbClr val="1F1F1F"/>
                </a:solidFill>
                <a:latin typeface="Arial"/>
              </a:rPr>
              <a:t>WorldPop vs Dukcapil population</a:t>
            </a:r>
          </a:p>
        </p:txBody>
      </p:sp>
      <p:sp>
        <p:nvSpPr>
          <p:cNvPr id="5018" name="Check card"/>
          <p:cNvSpPr/>
          <p:nvPr/>
        </p:nvSpPr>
        <p:spPr>
          <a:xfrm>
            <a:off x="2368296" y="3730752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0" name="Check text"/>
          <p:cNvSpPr txBox="1"/>
          <p:nvPr/>
        </p:nvSpPr>
        <p:spPr>
          <a:xfrm>
            <a:off x="2441448" y="3749039"/>
            <a:ext cx="1874519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300" b="1" i="0">
                <a:solidFill>
                  <a:srgbClr val="006E7A"/>
                </a:solidFill>
                <a:latin typeface="Arial"/>
              </a:rPr>
              <a:t>0.14 °C  </a:t>
            </a:r>
            <a:r>
              <a:rPr sz="850" b="0" i="0">
                <a:solidFill>
                  <a:srgbClr val="1F1F1F"/>
                </a:solidFill>
                <a:latin typeface="Arial"/>
              </a:rPr>
              <a:t>BMKG vs GHCN air-temp cross-check</a:t>
            </a:r>
          </a:p>
        </p:txBody>
      </p:sp>
      <p:sp>
        <p:nvSpPr>
          <p:cNvPr id="5019" name="Check card"/>
          <p:cNvSpPr/>
          <p:nvPr/>
        </p:nvSpPr>
        <p:spPr>
          <a:xfrm>
            <a:off x="4471416" y="3730752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1" name="Check text"/>
          <p:cNvSpPr txBox="1"/>
          <p:nvPr/>
        </p:nvSpPr>
        <p:spPr>
          <a:xfrm>
            <a:off x="4544568" y="3749039"/>
            <a:ext cx="1874519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300" b="1" i="0">
                <a:solidFill>
                  <a:srgbClr val="006E7A"/>
                </a:solidFill>
                <a:latin typeface="Arial"/>
              </a:rPr>
              <a:t>262  </a:t>
            </a:r>
            <a:r>
              <a:rPr sz="850" b="0" i="0">
                <a:solidFill>
                  <a:srgbClr val="1F1F1F"/>
                </a:solidFill>
                <a:latin typeface="Arial"/>
              </a:rPr>
              <a:t>automated tests passing</a:t>
            </a:r>
          </a:p>
        </p:txBody>
      </p:sp>
      <p:sp>
        <p:nvSpPr>
          <p:cNvPr id="5020" name="Check card"/>
          <p:cNvSpPr/>
          <p:nvPr/>
        </p:nvSpPr>
        <p:spPr>
          <a:xfrm>
            <a:off x="6574536" y="3730752"/>
            <a:ext cx="2011680" cy="566928"/>
          </a:xfrm>
          <a:prstGeom prst="roundRect">
            <a:avLst>
              <a:gd fmla="val 16667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2" name="Check text"/>
          <p:cNvSpPr txBox="1"/>
          <p:nvPr/>
        </p:nvSpPr>
        <p:spPr>
          <a:xfrm>
            <a:off x="6647688" y="3749039"/>
            <a:ext cx="1874519" cy="53035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300" b="1" i="0">
                <a:solidFill>
                  <a:srgbClr val="006E7A"/>
                </a:solidFill>
                <a:latin typeface="Arial"/>
              </a:rPr>
              <a:t>100 %  </a:t>
            </a:r>
            <a:r>
              <a:rPr sz="850" b="0" i="0">
                <a:solidFill>
                  <a:srgbClr val="1F1F1F"/>
                </a:solidFill>
                <a:latin typeface="Arial"/>
              </a:rPr>
              <a:t>physics, provenance &amp; budget/equity tests</a:t>
            </a:r>
          </a:p>
        </p:txBody>
      </p:sp>
      <p:sp>
        <p:nvSpPr>
          <p:cNvPr id="5023" name="Below target"/>
          <p:cNvSpPr/>
          <p:nvPr/>
        </p:nvSpPr>
        <p:spPr>
          <a:xfrm>
            <a:off x="265176" y="4389120"/>
            <a:ext cx="8595360" cy="438912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9525">
            <a:solidFill>
              <a:srgbClr val="F1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4" name="Below target text"/>
          <p:cNvSpPr txBox="1"/>
          <p:nvPr/>
        </p:nvSpPr>
        <p:spPr>
          <a:xfrm>
            <a:off x="338328" y="4389120"/>
            <a:ext cx="84582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850" b="1" i="0">
                <a:solidFill>
                  <a:srgbClr val="8A4B08"/>
                </a:solidFill>
                <a:latin typeface="Arial"/>
              </a:rPr>
              <a:t>Still below target:  </a:t>
            </a:r>
            <a:r>
              <a:rPr sz="850" b="0" i="0">
                <a:solidFill>
                  <a:srgbClr val="8A4B08"/>
                </a:solidFill>
                <a:latin typeface="Arial"/>
              </a:rPr>
              <a:t>agent tool selection 65% (13/20, target 90%) · chat p50 9.4 s on a local run, 6.7–7.3 s warm on Cloud Run (target &lt; 8 s) · Roof Check accuracy not yet measured (0 of 30 labelled photos).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21" name="Future card"/>
          <p:cNvSpPr/>
          <p:nvPr/>
        </p:nvSpPr>
        <p:spPr>
          <a:xfrm>
            <a:off x="265176" y="1188720"/>
            <a:ext cx="2743200" cy="2377440"/>
          </a:xfrm>
          <a:prstGeom prst="roundRect">
            <a:avLst>
              <a:gd fmla="val 5000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2" name="Header pill"/>
          <p:cNvSpPr/>
          <p:nvPr/>
        </p:nvSpPr>
        <p:spPr>
          <a:xfrm>
            <a:off x="374904" y="1298448"/>
            <a:ext cx="1737360" cy="329184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18288" lIns="73152" spcFirstLastPara="1" rIns="73152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Next (P1)</a:t>
            </a:r>
            <a:endParaRPr/>
          </a:p>
        </p:txBody>
      </p:sp>
      <p:sp>
        <p:nvSpPr>
          <p:cNvPr id="5023" name="Future list"/>
          <p:cNvSpPr txBox="1"/>
          <p:nvPr/>
        </p:nvSpPr>
        <p:spPr>
          <a:xfrm>
            <a:off x="356616" y="1737360"/>
            <a:ext cx="2560320" cy="2103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Pareto optimisation (NSGA-II): cost vs cooling vs equity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Citizen Roof Check reports as an anonymous map layer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Before / after split-map for scenarios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Export the brief to Google Docs</a:t>
            </a:r>
          </a:p>
        </p:txBody>
      </p:sp>
      <p:sp>
        <p:nvSpPr>
          <p:cNvPr id="5023" name="Future card"/>
          <p:cNvSpPr/>
          <p:nvPr/>
        </p:nvSpPr>
        <p:spPr>
          <a:xfrm>
            <a:off x="3191256" y="1188720"/>
            <a:ext cx="2743200" cy="2377440"/>
          </a:xfrm>
          <a:prstGeom prst="roundRect">
            <a:avLst>
              <a:gd fmla="val 5000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4" name="Header pill"/>
          <p:cNvSpPr/>
          <p:nvPr/>
        </p:nvSpPr>
        <p:spPr>
          <a:xfrm>
            <a:off x="3300984" y="1298448"/>
            <a:ext cx="1737360" cy="329184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18288" lIns="73152" spcFirstLastPara="1" rIns="73152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Roadmap (P2)</a:t>
            </a:r>
            <a:endParaRPr/>
          </a:p>
        </p:txBody>
      </p:sp>
      <p:sp>
        <p:nvSpPr>
          <p:cNvPr id="5025" name="Future list"/>
          <p:cNvSpPr txBox="1"/>
          <p:nvPr/>
        </p:nvSpPr>
        <p:spPr>
          <a:xfrm>
            <a:off x="3282696" y="1737360"/>
            <a:ext cx="2560320" cy="2103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Citizen heat reports to correct satellite data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Cool pavement from the OSM road network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Seasonal heat alerts for posyandu cadres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Air temperature at street level (PINN surrogate)</a:t>
            </a:r>
          </a:p>
        </p:txBody>
      </p:sp>
      <p:sp>
        <p:nvSpPr>
          <p:cNvPr id="5025" name="Future card"/>
          <p:cNvSpPr/>
          <p:nvPr/>
        </p:nvSpPr>
        <p:spPr>
          <a:xfrm>
            <a:off x="6117336" y="1188720"/>
            <a:ext cx="2743200" cy="2377440"/>
          </a:xfrm>
          <a:prstGeom prst="roundRect">
            <a:avLst>
              <a:gd fmla="val 5000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6" name="Header pill"/>
          <p:cNvSpPr/>
          <p:nvPr/>
        </p:nvSpPr>
        <p:spPr>
          <a:xfrm>
            <a:off x="6227064" y="1298448"/>
            <a:ext cx="1737360" cy="329184"/>
          </a:xfrm>
          <a:prstGeom prst="flowChartAlternateProcess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18288" lIns="73152" spcFirstLastPara="1" rIns="73152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Adoption &amp; scale</a:t>
            </a:r>
            <a:endParaRPr/>
          </a:p>
        </p:txBody>
      </p:sp>
      <p:sp>
        <p:nvSpPr>
          <p:cNvPr id="5027" name="Future list"/>
          <p:cNvSpPr txBox="1"/>
          <p:nvPr/>
        </p:nvSpPr>
        <p:spPr>
          <a:xfrm>
            <a:off x="6208776" y="1737360"/>
            <a:ext cx="2560320" cy="2103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Pilot with one city government (DKI Jakarta or Depok)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Brief as an attachment to Musrenbang and RTH studies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Global datasets only: a new city needs boundaries + period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0" i="0">
                <a:solidFill>
                  <a:srgbClr val="1F1F1F"/>
                </a:solidFill>
                <a:latin typeface="Arial"/>
              </a:rPr>
              <a:t>500+ Indonesian cities and regencies; SDG 3, 11, 13</a:t>
            </a:r>
          </a:p>
        </p:txBody>
      </p:sp>
      <p:sp>
        <p:nvSpPr>
          <p:cNvPr id="5028" name="Gaps strip"/>
          <p:cNvSpPr/>
          <p:nvPr/>
        </p:nvSpPr>
        <p:spPr>
          <a:xfrm>
            <a:off x="265176" y="3749039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9" name="Gaps text"/>
          <p:cNvSpPr txBox="1"/>
          <p:nvPr/>
        </p:nvSpPr>
        <p:spPr>
          <a:xfrm>
            <a:off x="365760" y="3767328"/>
            <a:ext cx="8412480" cy="877824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/>
            <a:r>
              <a:rPr sz="1100" b="1" i="0">
                <a:solidFill>
                  <a:srgbClr val="006E7A"/>
                </a:solidFill>
                <a:latin typeface="Arial"/>
              </a:rPr>
              <a:t>Gaps we close first</a:t>
            </a:r>
          </a:p>
          <a:p>
            <a:pPr algn="l"/>
            <a:r>
              <a:rPr sz="1000" b="0" i="0">
                <a:solidFill>
                  <a:srgbClr val="1F1F1F"/>
                </a:solidFill>
                <a:latin typeface="Arial"/>
              </a:rPr>
              <a:t>Vendor quotes for cool and green roofs (the largest remaining assumption) · verify the 6 remaining literature entries (4 of 10 verified today) · collect 30 labelled roof photos to report Roof Check accuracy · lift agent tool selection to ≥ 90% and chat p50 latency under 8 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3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 : https://github.com/ahmadsyafiqkamil/teduh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 : 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ID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 : https://teduh-web-ibnno2v3ma-as.a.run.app/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1" name="Google Shape;203;p1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D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5012" name="Snapshot subtitle"/>
          <p:cNvSpPr txBox="1"/>
          <p:nvPr/>
        </p:nvSpPr>
        <p:spPr>
          <a:xfrm>
            <a:off x="265176" y="111556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100" b="0" i="0">
                <a:solidFill>
                  <a:srgbClr val="5F6368"/>
                </a:solidFill>
                <a:latin typeface="Arial"/>
              </a:rPr>
              <a:t>From question to accountable policy document in one conversation</a:t>
            </a:r>
          </a:p>
        </p:txBody>
      </p:sp>
      <p:sp>
        <p:nvSpPr>
          <p:cNvPr id="5012" name="Snapshot frame"/>
          <p:cNvSpPr/>
          <p:nvPr/>
        </p:nvSpPr>
        <p:spPr>
          <a:xfrm>
            <a:off x="228599" y="1426464"/>
            <a:ext cx="4279392" cy="3067102"/>
          </a:xfrm>
          <a:prstGeom prst="roundRect">
            <a:avLst>
              <a:gd fmla="val 3875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3" name="Picture 5012" descr="snap_1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1463040"/>
            <a:ext cx="4206240" cy="2317294"/>
          </a:xfrm>
          <a:prstGeom prst="rect">
            <a:avLst/>
          </a:prstGeom>
        </p:spPr>
      </p:pic>
      <p:sp>
        <p:nvSpPr>
          <p:cNvPr id="5014" name="Snapshot caption"/>
          <p:cNvSpPr txBox="1"/>
          <p:nvPr/>
        </p:nvSpPr>
        <p:spPr>
          <a:xfrm>
            <a:off x="265176" y="3835198"/>
            <a:ext cx="4206240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050" b="1" i="0">
                <a:solidFill>
                  <a:srgbClr val="1F1F1F"/>
                </a:solidFill>
                <a:latin typeface="Arial"/>
              </a:rPr>
              <a:t>Budget portfolio with equity constraint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“Rp 50 bn for Central Jakarta” → OR-Tools picks 5 kelurahan; 100% to the top HVI quintile.</a:t>
            </a:r>
          </a:p>
        </p:txBody>
      </p:sp>
      <p:sp>
        <p:nvSpPr>
          <p:cNvPr id="5013" name="Snapshot frame"/>
          <p:cNvSpPr/>
          <p:nvPr/>
        </p:nvSpPr>
        <p:spPr>
          <a:xfrm>
            <a:off x="4636007" y="1426464"/>
            <a:ext cx="4279392" cy="3067102"/>
          </a:xfrm>
          <a:prstGeom prst="roundRect">
            <a:avLst>
              <a:gd fmla="val 3875" name="adj"/>
            </a:avLst>
          </a:prstGeom>
          <a:solidFill>
            <a:srgbClr val="F2F8F8"/>
          </a:solidFill>
          <a:ln cap="flat" cmpd="sng" w="12700">
            <a:solidFill>
              <a:srgbClr val="D5E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5" name="Picture 5014" descr="snap_1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3" y="1463040"/>
            <a:ext cx="4206240" cy="2317294"/>
          </a:xfrm>
          <a:prstGeom prst="rect">
            <a:avLst/>
          </a:prstGeom>
        </p:spPr>
      </p:pic>
      <p:sp>
        <p:nvSpPr>
          <p:cNvPr id="5016" name="Snapshot caption"/>
          <p:cNvSpPr txBox="1"/>
          <p:nvPr/>
        </p:nvSpPr>
        <p:spPr>
          <a:xfrm>
            <a:off x="4672583" y="3835198"/>
            <a:ext cx="4206240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/>
            <a:r>
              <a:rPr sz="1050" b="1" i="0">
                <a:solidFill>
                  <a:srgbClr val="1F1F1F"/>
                </a:solidFill>
                <a:latin typeface="Arial"/>
              </a:rPr>
              <a:t>Policy brief: “all figures verified”</a:t>
            </a:r>
          </a:p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Draft for Bappeda with planning links, limitations and sources; download as PDF or Markdown.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5" title="Frame 14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